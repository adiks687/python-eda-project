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60" r:id="rId26"/>
    <p:sldId id="261" r:id="rId27"/>
    <p:sldId id="262" r:id="rId28"/>
    <p:sldId id="26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84"/>
    <p:restoredTop sz="96405"/>
  </p:normalViewPr>
  <p:slideViewPr>
    <p:cSldViewPr snapToGrid="0">
      <p:cViewPr varScale="1">
        <p:scale>
          <a:sx n="125" d="100"/>
          <a:sy n="125" d="100"/>
        </p:scale>
        <p:origin x="160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7/2/26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7/2/26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7/2/26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7/2/26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7/2/26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7/2/26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7/2/26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813DD-ECA9-D006-B32A-D7C0C9B6EC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1603904"/>
            <a:ext cx="9448800" cy="1825096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Exploratory data analysis of bank customer churn dataset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D9B859-53CD-1CE7-861E-5D5E82E457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By: Aditya Kumar Singh</a:t>
            </a:r>
          </a:p>
        </p:txBody>
      </p:sp>
    </p:spTree>
    <p:extLst>
      <p:ext uri="{BB962C8B-B14F-4D97-AF65-F5344CB8AC3E}">
        <p14:creationId xmlns:p14="http://schemas.microsoft.com/office/powerpoint/2010/main" val="2153346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F2A83-085B-DC16-2759-5BC415888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   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8575B-4AB1-0CEE-AD11-F2042BAB8F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lang="en-IN" dirty="0"/>
              <a:t>Understand why customers leave the bank.</a:t>
            </a:r>
          </a:p>
          <a:p>
            <a:pPr>
              <a:defRPr sz="2200"/>
            </a:pPr>
            <a:r>
              <a:rPr lang="en-IN" dirty="0"/>
              <a:t>Identify churn patterns using EDA.</a:t>
            </a:r>
          </a:p>
          <a:p>
            <a:pPr>
              <a:defRPr sz="2200"/>
            </a:pPr>
            <a:r>
              <a:rPr lang="en-IN" dirty="0"/>
              <a:t>Support future prediction models.</a:t>
            </a:r>
          </a:p>
          <a:p>
            <a:pPr>
              <a:defRPr sz="2200"/>
            </a:pPr>
            <a:r>
              <a:rPr lang="en-IN" dirty="0"/>
              <a:t>Generate business insights.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1796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3ED1E-EAF8-6455-2168-386F53321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     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5C776-B414-7D25-3999-1A99EB0F6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lang="en-IN" dirty="0"/>
              <a:t>10,000 customer records.</a:t>
            </a:r>
          </a:p>
          <a:p>
            <a:pPr>
              <a:defRPr sz="2200"/>
            </a:pPr>
            <a:r>
              <a:rPr lang="en-IN" dirty="0"/>
              <a:t>Target: Exited.</a:t>
            </a:r>
          </a:p>
          <a:p>
            <a:pPr>
              <a:defRPr sz="2200"/>
            </a:pPr>
            <a:r>
              <a:rPr lang="en-IN" dirty="0"/>
              <a:t>Features include demographics, banking activity and satisfaction metrics.</a:t>
            </a:r>
          </a:p>
          <a:p>
            <a:pPr>
              <a:defRPr sz="2200"/>
            </a:pPr>
            <a:r>
              <a:rPr lang="en-IN" dirty="0"/>
              <a:t>Rich dataset for churn analysis.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950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17540-8DD9-12D4-F691-07EE19CBF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      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7E6FD-81A8-0EF7-DF2C-2324A69D8F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lang="en-IN" dirty="0"/>
              <a:t>Checked dataset information.</a:t>
            </a:r>
          </a:p>
          <a:p>
            <a:pPr>
              <a:defRPr sz="2200"/>
            </a:pPr>
            <a:r>
              <a:rPr lang="en-IN" dirty="0"/>
              <a:t>Verified missing values.</a:t>
            </a:r>
          </a:p>
          <a:p>
            <a:pPr>
              <a:defRPr sz="2200"/>
            </a:pPr>
            <a:r>
              <a:rPr lang="en-IN" dirty="0"/>
              <a:t>Generated descriptive statistics.</a:t>
            </a:r>
          </a:p>
          <a:p>
            <a:pPr>
              <a:defRPr sz="2200"/>
            </a:pPr>
            <a:r>
              <a:rPr lang="en-IN" dirty="0"/>
              <a:t>No missing values found.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68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D8249-D939-3C31-BD6D-13A05EC0C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4436" y="778228"/>
            <a:ext cx="8610600" cy="1293028"/>
          </a:xfrm>
        </p:spPr>
        <p:txBody>
          <a:bodyPr/>
          <a:lstStyle/>
          <a:p>
            <a:pPr algn="l"/>
            <a:r>
              <a:rPr lang="en-US" dirty="0"/>
              <a:t>Age distribution of customers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D386FE2-2E9F-8989-4726-9A327F00FB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37164" y="2011264"/>
            <a:ext cx="6871853" cy="4068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530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A0BFC-C889-BE94-3C06-847EA95D3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709" y="792082"/>
            <a:ext cx="8610600" cy="1293028"/>
          </a:xfrm>
        </p:spPr>
        <p:txBody>
          <a:bodyPr/>
          <a:lstStyle/>
          <a:p>
            <a:r>
              <a:rPr lang="en-US" dirty="0"/>
              <a:t>Balance distribution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7949EC9-9D8E-87BF-5992-33A2F74102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00399" y="1834430"/>
            <a:ext cx="6982691" cy="4621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207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43BE1-95C4-9886-F205-DBD0E0510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Credit score distribution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C248865-9667-0494-AF39-DC9E807F22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95600" y="1939636"/>
            <a:ext cx="7204365" cy="446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958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FFD09-D662-8E4C-93FA-C7F863AF5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3709" y="944483"/>
            <a:ext cx="8610600" cy="1293028"/>
          </a:xfrm>
        </p:spPr>
        <p:txBody>
          <a:bodyPr/>
          <a:lstStyle/>
          <a:p>
            <a:pPr algn="l"/>
            <a:r>
              <a:rPr lang="en-US" dirty="0"/>
              <a:t>Estimated salary distribution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721762B-2AEF-8FB1-9944-6947B67037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13709" y="2396836"/>
            <a:ext cx="8416173" cy="3976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3728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65525-CFFE-F8C7-1F26-F46D823F7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8400" y="958337"/>
            <a:ext cx="8610600" cy="1293028"/>
          </a:xfrm>
        </p:spPr>
        <p:txBody>
          <a:bodyPr/>
          <a:lstStyle/>
          <a:p>
            <a:pPr algn="l"/>
            <a:r>
              <a:rPr lang="en-US" dirty="0"/>
              <a:t>Points earned distribution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CE0184E-34CF-DD1D-552D-96566DC046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92037" y="2327518"/>
            <a:ext cx="7999122" cy="4184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6098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B6D5A-3A2D-969B-0553-2C48FB7A9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5364" y="792082"/>
            <a:ext cx="8610600" cy="1293028"/>
          </a:xfrm>
        </p:spPr>
        <p:txBody>
          <a:bodyPr/>
          <a:lstStyle/>
          <a:p>
            <a:pPr algn="l"/>
            <a:r>
              <a:rPr lang="en-US" dirty="0"/>
              <a:t>Tenure distribution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1120E75-D491-E120-91A5-07A671D4F5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98619" y="1926708"/>
            <a:ext cx="7273636" cy="4446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535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A4F80-EA3C-94D3-5776-796F34ABE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727" y="944483"/>
            <a:ext cx="8610600" cy="1293028"/>
          </a:xfrm>
        </p:spPr>
        <p:txBody>
          <a:bodyPr>
            <a:normAutofit/>
          </a:bodyPr>
          <a:lstStyle/>
          <a:p>
            <a:pPr algn="l"/>
            <a:r>
              <a:rPr lang="en-US" sz="3600" dirty="0"/>
              <a:t>Compare churn status by gender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A8FD568-1E3A-7ED1-D13D-5480679506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97382" y="2043456"/>
            <a:ext cx="6345381" cy="4315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948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7412A-98AB-6270-243B-36CAAC522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728" y="999900"/>
            <a:ext cx="8610600" cy="1293028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Compare churn status by geography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2C30C11-9760-A1C8-1AB4-E5AFBF7A60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98619" y="2175164"/>
            <a:ext cx="7592290" cy="4100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7813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0DF41-226E-F6A9-57BD-935B22FCF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800" dirty="0"/>
              <a:t>Compare churn status by active       membership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02366F8-0743-3572-C9DC-042F22925D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9964" y="1936514"/>
            <a:ext cx="8132618" cy="4630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1142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490D3-A4F2-82FA-58EE-E96EC3BBD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dirty="0"/>
              <a:t>Compare churn status by credit card ownership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B1BDA8C-73AD-F331-5220-71502C492F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95599" y="2150400"/>
            <a:ext cx="7994073" cy="4236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3374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7E726-50B7-46F6-A037-F06FBD877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dirty="0"/>
              <a:t>Compare churn status by number of products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A822789-D2C7-97C8-56DA-07E8825AFF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57055" y="2104882"/>
            <a:ext cx="8610600" cy="4489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8939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7B72F-7FFC-CB34-FB3D-CDC447594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0073" y="778228"/>
            <a:ext cx="8610600" cy="1293028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Compare churn status by complaints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3102D97-A074-1913-4E53-FB2CFB527F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60073" y="1912749"/>
            <a:ext cx="8846127" cy="4501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8341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F526F-B7AA-F8FC-9E5E-B87FFA99F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9564" y="764373"/>
            <a:ext cx="8610600" cy="1293028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Compare churn status by satisfaction score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857C3D3-8D6B-F54B-5184-56638419A5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32363" y="1939636"/>
            <a:ext cx="8215745" cy="4516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0383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1AAE4-DF54-4626-E575-9D2328EBD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5520" y="1048853"/>
            <a:ext cx="8610600" cy="1293028"/>
          </a:xfrm>
        </p:spPr>
        <p:txBody>
          <a:bodyPr/>
          <a:lstStyle/>
          <a:p>
            <a:pPr algn="l"/>
            <a:r>
              <a:rPr lang="en-US" dirty="0"/>
              <a:t>Box plot to identify outliers in customer credit scores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2DC23D4-3BEB-ABC7-4490-ED5B39B301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0640" y="2438400"/>
            <a:ext cx="7691120" cy="4114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3242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6EB3A-38CF-DB36-2A32-99707AF51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0" y="1159669"/>
            <a:ext cx="8610600" cy="1293028"/>
          </a:xfrm>
        </p:spPr>
        <p:txBody>
          <a:bodyPr/>
          <a:lstStyle/>
          <a:p>
            <a:pPr algn="l"/>
            <a:r>
              <a:rPr lang="en-US" dirty="0"/>
              <a:t>Box plot to identify outliers in customer account balances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307A25D-B6D7-5F85-60AC-F9A8502305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00400" y="2570480"/>
            <a:ext cx="6532880" cy="3962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2045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72A84-0337-4C00-D3C8-EE6FAC58A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8080" y="1089493"/>
            <a:ext cx="8610600" cy="1293028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Scatter plot to visualize the relationship between </a:t>
            </a:r>
            <a:r>
              <a:rPr lang="en-US" dirty="0" err="1"/>
              <a:t>age,balance,and</a:t>
            </a:r>
            <a:r>
              <a:rPr lang="en-US" dirty="0"/>
              <a:t> churn status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FA19A30-8F98-5662-EECF-26B3850A39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22880" y="2639751"/>
            <a:ext cx="6786880" cy="4015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5561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08417-A7C6-FB97-670F-0EDBB38D6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4720" y="1069173"/>
            <a:ext cx="8610600" cy="1293028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Pair plot to examine relationship among key features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1FA3CCA-84C1-5590-DBDF-FE56755396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92400" y="2362201"/>
            <a:ext cx="7223760" cy="4145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9293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DE557-BDB1-E983-F404-184F612E2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5360" y="1159669"/>
            <a:ext cx="8610600" cy="1293028"/>
          </a:xfrm>
        </p:spPr>
        <p:txBody>
          <a:bodyPr/>
          <a:lstStyle/>
          <a:p>
            <a:pPr algn="l"/>
            <a:r>
              <a:rPr lang="en-US" dirty="0"/>
              <a:t>Plot the average account balance for each age group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76A89F7-ED29-6B54-7FEA-BB82859F5D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24480" y="2600960"/>
            <a:ext cx="6959600" cy="3972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592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FBCB8-1FB2-ACAD-6AA8-6B710A8F8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6640" y="1069173"/>
            <a:ext cx="8610600" cy="1293028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Density distribution of account balance based on churn status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C52E592-8073-5F29-3915-E0FA6A7783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3680" y="2362202"/>
            <a:ext cx="7284720" cy="4058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5910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A3DAE-A2D4-3D7E-95FE-8B180855A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3440" y="1262213"/>
            <a:ext cx="8610600" cy="1293028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Comparing balance distribution between retained and churned customer using box plot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6B3A84B-E0A8-6504-1990-399B6BC20F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77440" y="2926080"/>
            <a:ext cx="7782560" cy="363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3615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490B2-123E-FB0D-EFEF-62CC621D8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         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81C8B-71AD-66E6-A541-DFA381A97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lang="en-IN" dirty="0"/>
              <a:t>Customer behaviour varies across demographic groups.</a:t>
            </a:r>
          </a:p>
          <a:p>
            <a:pPr>
              <a:defRPr sz="2200"/>
            </a:pPr>
            <a:r>
              <a:rPr lang="en-IN" dirty="0"/>
              <a:t>Active members generally show better retention.</a:t>
            </a:r>
          </a:p>
          <a:p>
            <a:pPr>
              <a:defRPr sz="2200"/>
            </a:pPr>
            <a:r>
              <a:rPr lang="en-IN" dirty="0"/>
              <a:t>Complaints and satisfaction influence churn.</a:t>
            </a:r>
          </a:p>
          <a:p>
            <a:pPr>
              <a:defRPr sz="2200"/>
            </a:pPr>
            <a:r>
              <a:rPr lang="en-IN" dirty="0"/>
              <a:t>EDA supports business decisions.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6313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12589-B44A-8A0C-A8D3-8DE0FF0CB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  Tools and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F4D6A-C54D-31B1-5F16-EF1A5021D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lang="en-IN" dirty="0"/>
              <a:t>Python</a:t>
            </a:r>
          </a:p>
          <a:p>
            <a:pPr>
              <a:defRPr sz="2200"/>
            </a:pPr>
            <a:r>
              <a:rPr lang="en-IN" dirty="0"/>
              <a:t>Pandas</a:t>
            </a:r>
          </a:p>
          <a:p>
            <a:pPr>
              <a:defRPr sz="2200"/>
            </a:pPr>
            <a:r>
              <a:rPr lang="en-IN" dirty="0"/>
              <a:t>NumPy</a:t>
            </a:r>
          </a:p>
          <a:p>
            <a:pPr>
              <a:defRPr sz="2200"/>
            </a:pPr>
            <a:r>
              <a:rPr lang="en-IN" dirty="0"/>
              <a:t>Matplotlib</a:t>
            </a:r>
          </a:p>
          <a:p>
            <a:pPr>
              <a:defRPr sz="2200"/>
            </a:pPr>
            <a:r>
              <a:rPr lang="en-IN" dirty="0"/>
              <a:t>Seaborn</a:t>
            </a:r>
          </a:p>
          <a:p>
            <a:pPr>
              <a:defRPr sz="2200"/>
            </a:pPr>
            <a:r>
              <a:rPr lang="en-IN" dirty="0" err="1"/>
              <a:t>Jupyter</a:t>
            </a:r>
            <a:r>
              <a:rPr lang="en-IN" dirty="0"/>
              <a:t> Notebook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64526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E39D0-7EB0-865A-94C2-82E31BF88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/>
              <a:t>       Business Impact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9B06F-E98E-B8D9-08D0-4AC841CB8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lang="en-IN" dirty="0"/>
              <a:t>Customer retention</a:t>
            </a:r>
          </a:p>
          <a:p>
            <a:pPr>
              <a:defRPr sz="2200"/>
            </a:pPr>
            <a:r>
              <a:rPr lang="en-IN" dirty="0"/>
              <a:t>Marketing optimization</a:t>
            </a:r>
          </a:p>
          <a:p>
            <a:pPr>
              <a:defRPr sz="2200"/>
            </a:pPr>
            <a:r>
              <a:rPr lang="en-IN" dirty="0"/>
              <a:t>Revenue improvement</a:t>
            </a:r>
          </a:p>
          <a:p>
            <a:pPr>
              <a:defRPr sz="2200"/>
            </a:pPr>
            <a:r>
              <a:rPr lang="en-IN" dirty="0"/>
              <a:t>Data-driven decision making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19562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355F5-A47F-5EAD-7812-809FA00EC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/>
              <a:t>           Future Scope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C3A85-A5AC-FCCA-B750-4739F09B4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lang="en-IN" dirty="0"/>
              <a:t>Logistic Regression</a:t>
            </a:r>
          </a:p>
          <a:p>
            <a:pPr>
              <a:defRPr sz="2200"/>
            </a:pPr>
            <a:r>
              <a:rPr lang="en-IN" dirty="0"/>
              <a:t>Random Forest</a:t>
            </a:r>
          </a:p>
          <a:p>
            <a:pPr>
              <a:defRPr sz="2200"/>
            </a:pPr>
            <a:r>
              <a:rPr lang="en-IN" dirty="0" err="1"/>
              <a:t>XGBoost</a:t>
            </a:r>
            <a:endParaRPr lang="en-IN" dirty="0"/>
          </a:p>
          <a:p>
            <a:pPr>
              <a:defRPr sz="2200"/>
            </a:pPr>
            <a:r>
              <a:rPr lang="en-IN" dirty="0"/>
              <a:t>Dashboard</a:t>
            </a:r>
          </a:p>
          <a:p>
            <a:pPr>
              <a:defRPr sz="2200"/>
            </a:pPr>
            <a:r>
              <a:rPr lang="en-IN" dirty="0"/>
              <a:t>Real-time prediction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0107200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48</TotalTime>
  <Words>274</Words>
  <Application>Microsoft Macintosh PowerPoint</Application>
  <PresentationFormat>Widescreen</PresentationFormat>
  <Paragraphs>60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Century Gothic</vt:lpstr>
      <vt:lpstr>Vapor Trail</vt:lpstr>
      <vt:lpstr>Exploratory data analysis of bank customer churn dataset</vt:lpstr>
      <vt:lpstr>    Problem statement</vt:lpstr>
      <vt:lpstr>     Dataset overview</vt:lpstr>
      <vt:lpstr>      Data cleaning</vt:lpstr>
      <vt:lpstr>Age distribution of customers</vt:lpstr>
      <vt:lpstr>Balance distribution</vt:lpstr>
      <vt:lpstr>Credit score distribution</vt:lpstr>
      <vt:lpstr>Estimated salary distribution</vt:lpstr>
      <vt:lpstr>Points earned distribution</vt:lpstr>
      <vt:lpstr>Tenure distribution</vt:lpstr>
      <vt:lpstr>Compare churn status by gender</vt:lpstr>
      <vt:lpstr>Compare churn status by geography</vt:lpstr>
      <vt:lpstr>Compare churn status by active       membership</vt:lpstr>
      <vt:lpstr>Compare churn status by credit card ownership</vt:lpstr>
      <vt:lpstr>Compare churn status by number of products</vt:lpstr>
      <vt:lpstr>Compare churn status by complaints</vt:lpstr>
      <vt:lpstr>Compare churn status by satisfaction score</vt:lpstr>
      <vt:lpstr>Box plot to identify outliers in customer credit scores</vt:lpstr>
      <vt:lpstr>Box plot to identify outliers in customer account balances</vt:lpstr>
      <vt:lpstr>Scatter plot to visualize the relationship between age,balance,and churn status</vt:lpstr>
      <vt:lpstr>Pair plot to examine relationship among key features</vt:lpstr>
      <vt:lpstr>Plot the average account balance for each age group</vt:lpstr>
      <vt:lpstr>Density distribution of account balance based on churn status</vt:lpstr>
      <vt:lpstr>Comparing balance distribution between retained and churned customer using box plot</vt:lpstr>
      <vt:lpstr>         Key Insights</vt:lpstr>
      <vt:lpstr>  Tools and technologies</vt:lpstr>
      <vt:lpstr>       Business Impact</vt:lpstr>
      <vt:lpstr>           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Exploratory data analysis of bank customer churn dataset</dc:title>
  <dc:creator>Aditya Kumar Singh</dc:creator>
  <cp:lastModifiedBy>Aditya Kumar Singh</cp:lastModifiedBy>
  <cp:revision>6</cp:revision>
  <dcterms:created xsi:type="dcterms:W3CDTF">2026-07-02T09:14:24Z</dcterms:created>
  <dcterms:modified xsi:type="dcterms:W3CDTF">2026-07-02T10:13:47Z</dcterms:modified>
</cp:coreProperties>
</file>